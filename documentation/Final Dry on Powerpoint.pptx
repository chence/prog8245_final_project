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9"/>
  </p:notesMasterIdLst>
  <p:sldIdLst>
    <p:sldId id="279" r:id="rId3"/>
    <p:sldId id="259" r:id="rId4"/>
    <p:sldId id="257" r:id="rId5"/>
    <p:sldId id="284" r:id="rId6"/>
    <p:sldId id="285" r:id="rId7"/>
    <p:sldId id="28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EB2"/>
    <a:srgbClr val="E8B6FD"/>
    <a:srgbClr val="75DEFE"/>
    <a:srgbClr val="49A1FF"/>
    <a:srgbClr val="3068B2"/>
    <a:srgbClr val="4AA0FF"/>
    <a:srgbClr val="02103B"/>
    <a:srgbClr val="6AFFFF"/>
    <a:srgbClr val="37FFFF"/>
    <a:srgbClr val="020F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31" autoAdjust="0"/>
  </p:normalViewPr>
  <p:slideViewPr>
    <p:cSldViewPr snapToGrid="0" showGuides="1">
      <p:cViewPr varScale="1">
        <p:scale>
          <a:sx n="98" d="100"/>
          <a:sy n="98" d="100"/>
        </p:scale>
        <p:origin x="36" y="81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31605-78F6-4364-BBC2-10FCB3DF000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DA779-0287-448B-81D4-00B3017B7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661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DA779-0287-448B-81D4-00B3017B7D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320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DD089-8B16-8CD4-0D1C-78090A9A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75E4C8-D53C-8D70-9AF3-7449035FB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63085E-D1C5-7ADB-EC0C-8BAF7DA56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F5AFC-C5FA-C37F-8B8B-985C848A2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DA779-0287-448B-81D4-00B3017B7D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763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66548"/>
      </p:ext>
    </p:extLst>
  </p:cSld>
  <p:clrMapOvr>
    <a:masterClrMapping/>
  </p:clrMapOvr>
  <p:transition spd="slow" advTm="3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603071"/>
      </p:ext>
    </p:extLst>
  </p:cSld>
  <p:clrMapOvr>
    <a:masterClrMapping/>
  </p:clrMapOvr>
  <p:transition spd="slow" advTm="3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779674"/>
      </p:ext>
    </p:extLst>
  </p:cSld>
  <p:clrMapOvr>
    <a:masterClrMapping/>
  </p:clrMapOvr>
  <p:transition spd="slow" advTm="3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983478"/>
      </p:ext>
    </p:extLst>
  </p:cSld>
  <p:clrMapOvr>
    <a:masterClrMapping/>
  </p:clrMapOvr>
  <p:transition spd="slow" advTm="3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063555"/>
      </p:ext>
    </p:extLst>
  </p:cSld>
  <p:clrMapOvr>
    <a:masterClrMapping/>
  </p:clrMapOvr>
  <p:transition spd="slow" advTm="3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416047"/>
      </p:ext>
    </p:extLst>
  </p:cSld>
  <p:clrMapOvr>
    <a:masterClrMapping/>
  </p:clrMapOvr>
  <p:transition spd="slow" advTm="3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645662"/>
      </p:ext>
    </p:extLst>
  </p:cSld>
  <p:clrMapOvr>
    <a:masterClrMapping/>
  </p:clrMapOvr>
  <p:transition spd="slow" advTm="3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985443"/>
      </p:ext>
    </p:extLst>
  </p:cSld>
  <p:clrMapOvr>
    <a:masterClrMapping/>
  </p:clrMapOvr>
  <p:transition spd="slow" advTm="3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75378"/>
      </p:ext>
    </p:extLst>
  </p:cSld>
  <p:clrMapOvr>
    <a:masterClrMapping/>
  </p:clrMapOvr>
  <p:transition spd="slow" advTm="3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708918"/>
      </p:ext>
    </p:extLst>
  </p:cSld>
  <p:clrMapOvr>
    <a:masterClrMapping/>
  </p:clrMapOvr>
  <p:transition spd="slow" advTm="3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355111"/>
      </p:ext>
    </p:extLst>
  </p:cSld>
  <p:clrMapOvr>
    <a:masterClrMapping/>
  </p:clrMapOvr>
  <p:transition spd="slow" advTm="3000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4B63677-529E-420F-A5EB-E5FC9A897D75}"/>
              </a:ext>
            </a:extLst>
          </p:cNvPr>
          <p:cNvSpPr txBox="1"/>
          <p:nvPr userDrawn="1"/>
        </p:nvSpPr>
        <p:spPr>
          <a:xfrm>
            <a:off x="11544999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807547805"/>
      </p:ext>
    </p:extLst>
  </p:cSld>
  <p:clrMapOvr>
    <a:masterClrMapping/>
  </p:clrMapOvr>
  <p:transition spd="slow" advTm="3000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549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1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41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BEFEC-D028-44FB-A3F9-796C3B1983F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E1B86-5F9A-4392-829D-AED36F27D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 advTm="3000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33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2" t="7499" b="14275"/>
          <a:stretch/>
        </p:blipFill>
        <p:spPr>
          <a:xfrm>
            <a:off x="38911" y="-72957"/>
            <a:ext cx="12191999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900" y="0"/>
            <a:ext cx="2832100" cy="4273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552534" y="346864"/>
            <a:ext cx="461665" cy="98282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en-US" altLang="zh-CN" i="1" dirty="0">
                <a:solidFill>
                  <a:srgbClr val="6AFFFF">
                    <a:alpha val="43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LOGO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11783367" y="1663700"/>
            <a:ext cx="0" cy="4114800"/>
          </a:xfrm>
          <a:prstGeom prst="line">
            <a:avLst/>
          </a:prstGeom>
          <a:ln>
            <a:solidFill>
              <a:srgbClr val="6AFFFF">
                <a:alpha val="4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11600331" y="6112510"/>
            <a:ext cx="366069" cy="290521"/>
            <a:chOff x="4533898" y="346864"/>
            <a:chExt cx="366069" cy="290521"/>
          </a:xfrm>
        </p:grpSpPr>
        <p:sp>
          <p:nvSpPr>
            <p:cNvPr id="14" name="矩形 13"/>
            <p:cNvSpPr/>
            <p:nvPr/>
          </p:nvSpPr>
          <p:spPr>
            <a:xfrm>
              <a:off x="4533900" y="346864"/>
              <a:ext cx="366067" cy="45719"/>
            </a:xfrm>
            <a:prstGeom prst="rect">
              <a:avLst/>
            </a:prstGeom>
            <a:solidFill>
              <a:srgbClr val="6AFFFF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4533899" y="469265"/>
              <a:ext cx="366067" cy="45719"/>
            </a:xfrm>
            <a:prstGeom prst="rect">
              <a:avLst/>
            </a:prstGeom>
            <a:solidFill>
              <a:srgbClr val="6AFFFF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4533898" y="591666"/>
              <a:ext cx="366067" cy="45719"/>
            </a:xfrm>
            <a:prstGeom prst="rect">
              <a:avLst/>
            </a:prstGeom>
            <a:solidFill>
              <a:srgbClr val="6AFFFF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15C28B00-7B63-482C-8480-342060B71E3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66" b="28135"/>
          <a:stretch/>
        </p:blipFill>
        <p:spPr>
          <a:xfrm>
            <a:off x="4395567" y="4179150"/>
            <a:ext cx="7094210" cy="1599350"/>
          </a:xfrm>
          <a:prstGeom prst="rect">
            <a:avLst/>
          </a:prstGeom>
        </p:spPr>
      </p:pic>
      <p:sp>
        <p:nvSpPr>
          <p:cNvPr id="12" name="文本框 11" descr="e7d195523061f1c0d3ba7f298e59d031c9c3f97027ed136f882110EF8F17BAD1F2C348D17C7856EF46CB4678CC9E44EE1ABA681E3133328A7B4D22AAF822B2429426B2355AA8CC4431B8568D2CF3B73AAAD753476CCD8199994BD43C82BDB4A055B67CFBA66DDF37414317DA1BBA25705979FE7D57D375D82D7B24EC2F681DC196451350D92E9550">
            <a:extLst>
              <a:ext uri="{FF2B5EF4-FFF2-40B4-BE49-F238E27FC236}">
                <a16:creationId xmlns:a16="http://schemas.microsoft.com/office/drawing/2014/main" id="{1D9489C3-C059-4874-BDA2-5B2565FA5F2B}"/>
              </a:ext>
            </a:extLst>
          </p:cNvPr>
          <p:cNvSpPr txBox="1"/>
          <p:nvPr/>
        </p:nvSpPr>
        <p:spPr>
          <a:xfrm>
            <a:off x="2816570" y="1952424"/>
            <a:ext cx="734745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spc="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PROG8245</a:t>
            </a:r>
          </a:p>
          <a:p>
            <a:r>
              <a:rPr lang="en-US" altLang="zh-CN" sz="2400" b="1" spc="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Final Project Dry On</a:t>
            </a:r>
          </a:p>
          <a:p>
            <a:endParaRPr lang="en-US" altLang="zh-CN" sz="2400" b="1" spc="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en-US" altLang="zh-CN" sz="2400" spc="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Group Members:</a:t>
            </a:r>
          </a:p>
          <a:p>
            <a:r>
              <a:rPr lang="en-US" altLang="zh-CN" sz="2400" spc="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	Ce Chen 9007166</a:t>
            </a:r>
          </a:p>
          <a:p>
            <a:r>
              <a:rPr lang="en-US" altLang="zh-CN" sz="2400" spc="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	</a:t>
            </a:r>
            <a:r>
              <a:rPr lang="en-US" altLang="zh-CN" sz="2400" spc="600" dirty="0" err="1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Haibo</a:t>
            </a:r>
            <a:r>
              <a:rPr lang="en-US" altLang="zh-CN" sz="2400" spc="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 Yuan 9010929</a:t>
            </a:r>
          </a:p>
          <a:p>
            <a:r>
              <a:rPr lang="en-US" altLang="zh-CN" sz="2400" spc="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	Zhuoran Zhang 9048508</a:t>
            </a:r>
          </a:p>
          <a:p>
            <a:r>
              <a:rPr lang="en-US" altLang="zh-CN" sz="2400" spc="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	Abdallah Mohamed 9089339</a:t>
            </a:r>
          </a:p>
          <a:p>
            <a:r>
              <a:rPr lang="en-US" altLang="zh-CN" sz="2400" spc="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	</a:t>
            </a:r>
            <a:endParaRPr lang="zh-CN" altLang="en-US" sz="2400" spc="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D80EFB-9BDC-BA6C-5BD9-64D7B8EE2CEB}"/>
              </a:ext>
            </a:extLst>
          </p:cNvPr>
          <p:cNvSpPr txBox="1"/>
          <p:nvPr/>
        </p:nvSpPr>
        <p:spPr>
          <a:xfrm>
            <a:off x="3192920" y="238897"/>
            <a:ext cx="6128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i="1" spc="600" dirty="0"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Medi-Chat</a:t>
            </a:r>
          </a:p>
        </p:txBody>
      </p:sp>
    </p:spTree>
    <p:extLst>
      <p:ext uri="{BB962C8B-B14F-4D97-AF65-F5344CB8AC3E}">
        <p14:creationId xmlns:p14="http://schemas.microsoft.com/office/powerpoint/2010/main" val="3093755813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62"/>
          <a:stretch/>
        </p:blipFill>
        <p:spPr>
          <a:xfrm rot="10800000" flipV="1">
            <a:off x="0" y="2302272"/>
            <a:ext cx="12280900" cy="4555728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864644" y="-26844"/>
            <a:ext cx="12077700" cy="3962400"/>
          </a:xfrm>
          <a:prstGeom prst="ellipse">
            <a:avLst/>
          </a:prstGeom>
          <a:solidFill>
            <a:srgbClr val="02062C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A972BF-CB4C-4905-8C97-491D0C46F4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116" y="-77287"/>
            <a:ext cx="7057907" cy="370910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88E17FA3-74A8-450B-8614-81CF0DB1B6E7}"/>
              </a:ext>
            </a:extLst>
          </p:cNvPr>
          <p:cNvSpPr txBox="1"/>
          <p:nvPr/>
        </p:nvSpPr>
        <p:spPr>
          <a:xfrm>
            <a:off x="3267020" y="464584"/>
            <a:ext cx="6128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i="1" spc="600" dirty="0"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Medi-Chat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23BF26E-84E3-20D0-692A-0269C06C6108}"/>
              </a:ext>
            </a:extLst>
          </p:cNvPr>
          <p:cNvSpPr txBox="1"/>
          <p:nvPr/>
        </p:nvSpPr>
        <p:spPr>
          <a:xfrm>
            <a:off x="114300" y="59370"/>
            <a:ext cx="45365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28403F-4F69-BDB0-00E6-1D685E0941BD}"/>
              </a:ext>
            </a:extLst>
          </p:cNvPr>
          <p:cNvSpPr txBox="1"/>
          <p:nvPr/>
        </p:nvSpPr>
        <p:spPr>
          <a:xfrm>
            <a:off x="1465023" y="2721114"/>
            <a:ext cx="395329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Information in complex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can’t easily understand symptoms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0F1C552-B060-3B5A-6202-2C2222EDF99A}"/>
              </a:ext>
            </a:extLst>
          </p:cNvPr>
          <p:cNvSpPr txBox="1"/>
          <p:nvPr/>
        </p:nvSpPr>
        <p:spPr>
          <a:xfrm>
            <a:off x="3927585" y="1723524"/>
            <a:ext cx="451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spc="600" dirty="0"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Problem Statement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5A55E3D-5087-7F01-3AFB-D8177CC42C25}"/>
              </a:ext>
            </a:extLst>
          </p:cNvPr>
          <p:cNvSpPr txBox="1"/>
          <p:nvPr/>
        </p:nvSpPr>
        <p:spPr>
          <a:xfrm>
            <a:off x="6505572" y="2636867"/>
            <a:ext cx="395329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chatbot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Translator to help understanding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simple and understandable answers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332572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0" b="7968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 flipH="1">
            <a:off x="-94544" y="0"/>
            <a:ext cx="2832100" cy="6403031"/>
            <a:chOff x="9359900" y="0"/>
            <a:chExt cx="2832100" cy="6403031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59900" y="0"/>
              <a:ext cx="2832100" cy="427390"/>
            </a:xfrm>
            <a:prstGeom prst="rect">
              <a:avLst/>
            </a:prstGeom>
          </p:spPr>
        </p:pic>
        <p:sp>
          <p:nvSpPr>
            <p:cNvPr id="37" name="文本框 36"/>
            <p:cNvSpPr txBox="1"/>
            <p:nvPr/>
          </p:nvSpPr>
          <p:spPr>
            <a:xfrm>
              <a:off x="11552534" y="346864"/>
              <a:ext cx="461665" cy="98282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en-US" altLang="zh-CN" i="1" dirty="0">
                  <a:solidFill>
                    <a:srgbClr val="6AFFFF">
                      <a:alpha val="43000"/>
                    </a:srgb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LOGO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11783367" y="1663700"/>
              <a:ext cx="0" cy="4114800"/>
            </a:xfrm>
            <a:prstGeom prst="line">
              <a:avLst/>
            </a:prstGeom>
            <a:ln>
              <a:solidFill>
                <a:srgbClr val="6AFFFF">
                  <a:alpha val="42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/>
            <p:cNvGrpSpPr/>
            <p:nvPr/>
          </p:nvGrpSpPr>
          <p:grpSpPr>
            <a:xfrm>
              <a:off x="11600331" y="6112510"/>
              <a:ext cx="366069" cy="290521"/>
              <a:chOff x="4533898" y="346864"/>
              <a:chExt cx="366069" cy="290521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4533900" y="346864"/>
                <a:ext cx="366067" cy="45719"/>
              </a:xfrm>
              <a:prstGeom prst="rect">
                <a:avLst/>
              </a:prstGeom>
              <a:solidFill>
                <a:srgbClr val="6AFFFF">
                  <a:alpha val="4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4533899" y="469265"/>
                <a:ext cx="366067" cy="45719"/>
              </a:xfrm>
              <a:prstGeom prst="rect">
                <a:avLst/>
              </a:prstGeom>
              <a:solidFill>
                <a:srgbClr val="6AFFFF">
                  <a:alpha val="4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4533898" y="591666"/>
                <a:ext cx="366067" cy="45719"/>
              </a:xfrm>
              <a:prstGeom prst="rect">
                <a:avLst/>
              </a:prstGeom>
              <a:solidFill>
                <a:srgbClr val="6AFFFF">
                  <a:alpha val="4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37CBF00-7D79-4109-9DAD-7A1B9C848D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7270" y="2472475"/>
            <a:ext cx="4751913" cy="24972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293DB79-7235-AE7A-12EC-9760AA67F0F7}"/>
              </a:ext>
            </a:extLst>
          </p:cNvPr>
          <p:cNvSpPr txBox="1"/>
          <p:nvPr/>
        </p:nvSpPr>
        <p:spPr>
          <a:xfrm>
            <a:off x="3267020" y="464584"/>
            <a:ext cx="6128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i="1" spc="600" dirty="0"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Medi-Chat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6E527E-0E3D-6972-C5AA-7822664D6374}"/>
              </a:ext>
            </a:extLst>
          </p:cNvPr>
          <p:cNvSpPr txBox="1"/>
          <p:nvPr/>
        </p:nvSpPr>
        <p:spPr>
          <a:xfrm>
            <a:off x="3932447" y="1663699"/>
            <a:ext cx="4751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spc="600" dirty="0"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System Architecture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70FF62-F000-01B4-5EDB-B0D856BD94C2}"/>
              </a:ext>
            </a:extLst>
          </p:cNvPr>
          <p:cNvSpPr txBox="1"/>
          <p:nvPr/>
        </p:nvSpPr>
        <p:spPr>
          <a:xfrm>
            <a:off x="3932448" y="2324910"/>
            <a:ext cx="39449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User Query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Language Detection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Translation to English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Intent Classification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Response Generation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Translation to User Language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Final Answer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207469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EF775-3A84-C90C-A3B8-D5180012A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851E958-766D-2342-30BE-3359E48F8C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0" b="7968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D091A00-B285-256F-B2CC-8CF490BFC50E}"/>
              </a:ext>
            </a:extLst>
          </p:cNvPr>
          <p:cNvGrpSpPr/>
          <p:nvPr/>
        </p:nvGrpSpPr>
        <p:grpSpPr>
          <a:xfrm flipH="1">
            <a:off x="-94544" y="0"/>
            <a:ext cx="2832100" cy="6403031"/>
            <a:chOff x="9359900" y="0"/>
            <a:chExt cx="2832100" cy="6403031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B7167F3A-DA09-CFA8-BC1C-DE1D5B515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59900" y="0"/>
              <a:ext cx="2832100" cy="427390"/>
            </a:xfrm>
            <a:prstGeom prst="rect">
              <a:avLst/>
            </a:prstGeom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39DB0CA-63F5-0F48-CBCC-E138A7F6C98D}"/>
                </a:ext>
              </a:extLst>
            </p:cNvPr>
            <p:cNvSpPr txBox="1"/>
            <p:nvPr/>
          </p:nvSpPr>
          <p:spPr>
            <a:xfrm>
              <a:off x="11552534" y="346864"/>
              <a:ext cx="461665" cy="98282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en-US" altLang="zh-CN" i="1" dirty="0">
                  <a:solidFill>
                    <a:srgbClr val="6AFFFF">
                      <a:alpha val="43000"/>
                    </a:srgb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LOGO</a:t>
              </a: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1ACE33BF-7F52-0494-0E60-C2FBC078E210}"/>
                </a:ext>
              </a:extLst>
            </p:cNvPr>
            <p:cNvCxnSpPr/>
            <p:nvPr/>
          </p:nvCxnSpPr>
          <p:spPr>
            <a:xfrm>
              <a:off x="11783367" y="1663700"/>
              <a:ext cx="0" cy="4114800"/>
            </a:xfrm>
            <a:prstGeom prst="line">
              <a:avLst/>
            </a:prstGeom>
            <a:ln>
              <a:solidFill>
                <a:srgbClr val="6AFFFF">
                  <a:alpha val="42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689C3464-575F-F90B-1B2B-4CF79561D041}"/>
                </a:ext>
              </a:extLst>
            </p:cNvPr>
            <p:cNvGrpSpPr/>
            <p:nvPr/>
          </p:nvGrpSpPr>
          <p:grpSpPr>
            <a:xfrm>
              <a:off x="11600331" y="6112510"/>
              <a:ext cx="366069" cy="290521"/>
              <a:chOff x="4533898" y="346864"/>
              <a:chExt cx="366069" cy="290521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1E8DA3BA-02D7-DAF9-A101-057E536AB7CC}"/>
                  </a:ext>
                </a:extLst>
              </p:cNvPr>
              <p:cNvSpPr/>
              <p:nvPr/>
            </p:nvSpPr>
            <p:spPr>
              <a:xfrm>
                <a:off x="4533900" y="346864"/>
                <a:ext cx="366067" cy="45719"/>
              </a:xfrm>
              <a:prstGeom prst="rect">
                <a:avLst/>
              </a:prstGeom>
              <a:solidFill>
                <a:srgbClr val="6AFFFF">
                  <a:alpha val="4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6C93ADCC-77BA-80EC-F06A-2136FA7D0855}"/>
                  </a:ext>
                </a:extLst>
              </p:cNvPr>
              <p:cNvSpPr/>
              <p:nvPr/>
            </p:nvSpPr>
            <p:spPr>
              <a:xfrm>
                <a:off x="4533899" y="469265"/>
                <a:ext cx="366067" cy="45719"/>
              </a:xfrm>
              <a:prstGeom prst="rect">
                <a:avLst/>
              </a:prstGeom>
              <a:solidFill>
                <a:srgbClr val="6AFFFF">
                  <a:alpha val="4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A3626EB-3CB1-F659-5986-C83863603B53}"/>
                  </a:ext>
                </a:extLst>
              </p:cNvPr>
              <p:cNvSpPr/>
              <p:nvPr/>
            </p:nvSpPr>
            <p:spPr>
              <a:xfrm>
                <a:off x="4533898" y="591666"/>
                <a:ext cx="366067" cy="45719"/>
              </a:xfrm>
              <a:prstGeom prst="rect">
                <a:avLst/>
              </a:prstGeom>
              <a:solidFill>
                <a:srgbClr val="6AFFFF">
                  <a:alpha val="4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14C6586-AAD8-35A5-5643-E4C7EAD992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7270" y="2472475"/>
            <a:ext cx="4751913" cy="24972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3E450BD-8808-494F-EB3F-E6CD4520EA67}"/>
              </a:ext>
            </a:extLst>
          </p:cNvPr>
          <p:cNvSpPr txBox="1"/>
          <p:nvPr/>
        </p:nvSpPr>
        <p:spPr>
          <a:xfrm>
            <a:off x="3267020" y="464584"/>
            <a:ext cx="6128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i="1" spc="600" dirty="0"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Medi-Chat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04BD98-7E6D-2B09-4657-C78241B29B89}"/>
              </a:ext>
            </a:extLst>
          </p:cNvPr>
          <p:cNvSpPr txBox="1"/>
          <p:nvPr/>
        </p:nvSpPr>
        <p:spPr>
          <a:xfrm>
            <a:off x="4157502" y="1663699"/>
            <a:ext cx="3494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spc="600" dirty="0"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Demonstration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2F1C840-F361-6F00-2B94-CE6C045D4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3045" y="2053198"/>
            <a:ext cx="7626609" cy="478074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5928434-5D9E-E123-30DB-0D0E0DD41A5E}"/>
              </a:ext>
            </a:extLst>
          </p:cNvPr>
          <p:cNvSpPr txBox="1"/>
          <p:nvPr/>
        </p:nvSpPr>
        <p:spPr>
          <a:xfrm>
            <a:off x="3078726" y="3025303"/>
            <a:ext cx="224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Input in any language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594582-82EC-2BF4-A99C-4ED248939B51}"/>
              </a:ext>
            </a:extLst>
          </p:cNvPr>
          <p:cNvSpPr txBox="1"/>
          <p:nvPr/>
        </p:nvSpPr>
        <p:spPr>
          <a:xfrm>
            <a:off x="2957209" y="5865579"/>
            <a:ext cx="2572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Translate it into English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A7046B-A423-2AE5-0BD0-15288C89C855}"/>
              </a:ext>
            </a:extLst>
          </p:cNvPr>
          <p:cNvSpPr txBox="1"/>
          <p:nvPr/>
        </p:nvSpPr>
        <p:spPr>
          <a:xfrm>
            <a:off x="7115783" y="4824969"/>
            <a:ext cx="210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Language Detection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2D94581-07B6-AB8C-9CC1-7BE327830F44}"/>
              </a:ext>
            </a:extLst>
          </p:cNvPr>
          <p:cNvSpPr txBox="1"/>
          <p:nvPr/>
        </p:nvSpPr>
        <p:spPr>
          <a:xfrm>
            <a:off x="7232515" y="4085617"/>
            <a:ext cx="210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Intent Classification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B59517-7FF8-8C89-5214-6223538808D9}"/>
              </a:ext>
            </a:extLst>
          </p:cNvPr>
          <p:cNvSpPr txBox="1"/>
          <p:nvPr/>
        </p:nvSpPr>
        <p:spPr>
          <a:xfrm>
            <a:off x="7281153" y="6234911"/>
            <a:ext cx="1940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Output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892155-4F27-8F75-7BD2-F40F67D7DD47}"/>
              </a:ext>
            </a:extLst>
          </p:cNvPr>
          <p:cNvSpPr txBox="1"/>
          <p:nvPr/>
        </p:nvSpPr>
        <p:spPr>
          <a:xfrm>
            <a:off x="7115784" y="3205264"/>
            <a:ext cx="2349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Translate output into original language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5945119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4EF9F-BF70-5864-4C80-CFCAEC51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E538631-8AAD-0B56-BFF2-E5033A66FE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62"/>
          <a:stretch/>
        </p:blipFill>
        <p:spPr>
          <a:xfrm rot="10800000" flipV="1">
            <a:off x="0" y="2302272"/>
            <a:ext cx="12280900" cy="4555728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0C33EEE6-A47B-7D92-B9D9-EED1A6971F98}"/>
              </a:ext>
            </a:extLst>
          </p:cNvPr>
          <p:cNvSpPr/>
          <p:nvPr/>
        </p:nvSpPr>
        <p:spPr>
          <a:xfrm>
            <a:off x="864644" y="-26844"/>
            <a:ext cx="12077700" cy="3962400"/>
          </a:xfrm>
          <a:prstGeom prst="ellipse">
            <a:avLst/>
          </a:prstGeom>
          <a:solidFill>
            <a:srgbClr val="02062C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00F518-6F60-C945-5E69-319FC0817C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116" y="-77287"/>
            <a:ext cx="7057907" cy="370910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D59495F-29FB-9A7E-5F30-579FE4BB1263}"/>
              </a:ext>
            </a:extLst>
          </p:cNvPr>
          <p:cNvSpPr txBox="1"/>
          <p:nvPr/>
        </p:nvSpPr>
        <p:spPr>
          <a:xfrm>
            <a:off x="3267020" y="464584"/>
            <a:ext cx="6128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1" i="1" u="none" strike="noStrike" kern="1200" cap="none" spc="60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rPr>
              <a:t>Medi-Chat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37A1E4C-9895-971B-B0A4-6D590DDDCE5A}"/>
              </a:ext>
            </a:extLst>
          </p:cNvPr>
          <p:cNvSpPr txBox="1"/>
          <p:nvPr/>
        </p:nvSpPr>
        <p:spPr>
          <a:xfrm>
            <a:off x="114300" y="59370"/>
            <a:ext cx="45365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行业</a:t>
            </a:r>
            <a:r>
              <a:rPr kumimoji="0" lang="en-US" altLang="zh-CN" sz="1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</a:t>
            </a:r>
            <a:r>
              <a:rPr kumimoji="0" lang="en-US" altLang="zh-CN" sz="1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http://www.1ppt.com/hangye/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DDCDBA-69B0-D6A9-D763-396630BD3354}"/>
              </a:ext>
            </a:extLst>
          </p:cNvPr>
          <p:cNvSpPr txBox="1"/>
          <p:nvPr/>
        </p:nvSpPr>
        <p:spPr>
          <a:xfrm>
            <a:off x="1465023" y="2721114"/>
            <a:ext cx="39532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Impact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to medical information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non-English users understand symptoms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simple and educational explanations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45F9923-D42A-47A4-0DA1-D26CE1C59B86}"/>
              </a:ext>
            </a:extLst>
          </p:cNvPr>
          <p:cNvSpPr txBox="1"/>
          <p:nvPr/>
        </p:nvSpPr>
        <p:spPr>
          <a:xfrm>
            <a:off x="3698985" y="1734949"/>
            <a:ext cx="5070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60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rPr>
              <a:t>Impact</a:t>
            </a:r>
            <a:r>
              <a:rPr kumimoji="0" lang="en-US" altLang="zh-CN" sz="2400" b="1" i="1" u="none" strike="noStrike" kern="1200" cap="none" spc="600" normalizeH="0" noProof="0" dirty="0">
                <a:ln>
                  <a:noFill/>
                </a:ln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rPr>
              <a:t> &amp; Limitations</a:t>
            </a:r>
            <a:endParaRPr kumimoji="0" lang="en-US" altLang="zh-CN" sz="2400" b="1" i="1" u="none" strike="noStrike" kern="1200" cap="none" spc="600" normalizeH="0" baseline="0" noProof="0" dirty="0">
              <a:ln>
                <a:noFill/>
              </a:ln>
              <a:gradFill flip="none" rotWithShape="1">
                <a:gsLst>
                  <a:gs pos="0">
                    <a:srgbClr val="3068B2"/>
                  </a:gs>
                  <a:gs pos="44000">
                    <a:srgbClr val="49A1FF"/>
                  </a:gs>
                  <a:gs pos="63000">
                    <a:srgbClr val="75DEFE"/>
                  </a:gs>
                  <a:gs pos="99000">
                    <a:srgbClr val="FF8EB2"/>
                  </a:gs>
                </a:gsLst>
                <a:lin ang="2700000" scaled="1"/>
                <a:tileRect/>
              </a:gradFill>
              <a:effectLst/>
              <a:uLnTx/>
              <a:uFillTx/>
              <a:latin typeface="思源黑体 Bold" panose="020B0800000000000000" pitchFamily="34" charset="-122"/>
              <a:ea typeface="思源黑体 Bold" panose="020B0800000000000000" pitchFamily="34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3C5E60F-83BC-2828-EC66-423692F24941}"/>
              </a:ext>
            </a:extLst>
          </p:cNvPr>
          <p:cNvSpPr txBox="1"/>
          <p:nvPr/>
        </p:nvSpPr>
        <p:spPr>
          <a:xfrm>
            <a:off x="6505572" y="2636867"/>
            <a:ext cx="395329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 medical diagnosis tool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 on translation accuracy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understanding of complex cases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316437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E4B0F-8FFA-ED99-E334-8FAB2BD7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38DAD37-CF98-F41C-BFC1-0CDDE290A0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62"/>
          <a:stretch/>
        </p:blipFill>
        <p:spPr>
          <a:xfrm rot="10800000" flipV="1">
            <a:off x="0" y="2302272"/>
            <a:ext cx="12280900" cy="4555728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7C0F1F58-9F03-2FEE-B73F-57E765B1B0BB}"/>
              </a:ext>
            </a:extLst>
          </p:cNvPr>
          <p:cNvSpPr/>
          <p:nvPr/>
        </p:nvSpPr>
        <p:spPr>
          <a:xfrm>
            <a:off x="864644" y="-26844"/>
            <a:ext cx="12077700" cy="3962400"/>
          </a:xfrm>
          <a:prstGeom prst="ellipse">
            <a:avLst/>
          </a:prstGeom>
          <a:solidFill>
            <a:srgbClr val="02062C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4646FD-4D34-AD49-1615-8F0F5DBF3B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116" y="-77287"/>
            <a:ext cx="7057907" cy="370910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FC286AAA-D842-0B2A-5436-CF819AEE08EA}"/>
              </a:ext>
            </a:extLst>
          </p:cNvPr>
          <p:cNvSpPr txBox="1"/>
          <p:nvPr/>
        </p:nvSpPr>
        <p:spPr>
          <a:xfrm>
            <a:off x="3267020" y="464584"/>
            <a:ext cx="6128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1" i="1" u="none" strike="noStrike" kern="1200" cap="none" spc="60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rPr>
              <a:t>Medi-Chat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2E023E7-ADD3-C289-1A82-DBB9EDE2A22E}"/>
              </a:ext>
            </a:extLst>
          </p:cNvPr>
          <p:cNvSpPr txBox="1"/>
          <p:nvPr/>
        </p:nvSpPr>
        <p:spPr>
          <a:xfrm>
            <a:off x="114300" y="59370"/>
            <a:ext cx="45365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行业</a:t>
            </a:r>
            <a:r>
              <a:rPr kumimoji="0" lang="en-US" altLang="zh-CN" sz="1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</a:t>
            </a:r>
            <a:r>
              <a:rPr kumimoji="0" lang="en-US" altLang="zh-CN" sz="1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http://www.1ppt.com/hangye/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B72985-77B7-A680-EBC9-65FF1A703072}"/>
              </a:ext>
            </a:extLst>
          </p:cNvPr>
          <p:cNvSpPr txBox="1"/>
          <p:nvPr/>
        </p:nvSpPr>
        <p:spPr>
          <a:xfrm>
            <a:off x="1465023" y="2721114"/>
            <a:ext cx="395329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Work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 setup with Git &amp; DVC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 (TF-IDF + Naive Bayes)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pipeline (language detection &amp; translation)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4460532-57CA-2EB1-5C1E-D6D9ACD213D2}"/>
              </a:ext>
            </a:extLst>
          </p:cNvPr>
          <p:cNvSpPr txBox="1"/>
          <p:nvPr/>
        </p:nvSpPr>
        <p:spPr>
          <a:xfrm>
            <a:off x="3604510" y="1688787"/>
            <a:ext cx="5410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400" b="1" i="1" spc="600" dirty="0">
                <a:gradFill flip="none" rotWithShape="1">
                  <a:gsLst>
                    <a:gs pos="0">
                      <a:srgbClr val="3068B2"/>
                    </a:gs>
                    <a:gs pos="44000">
                      <a:srgbClr val="49A1FF"/>
                    </a:gs>
                    <a:gs pos="63000">
                      <a:srgbClr val="75DEFE"/>
                    </a:gs>
                    <a:gs pos="99000">
                      <a:srgbClr val="FF8EB2"/>
                    </a:gs>
                  </a:gsLst>
                  <a:lin ang="2700000" scaled="1"/>
                  <a:tileRect/>
                </a:gradFill>
                <a:latin typeface="思源黑体 Bold" panose="020B0800000000000000" pitchFamily="34" charset="-122"/>
                <a:ea typeface="思源黑体 Bold" panose="020B0800000000000000" pitchFamily="34" charset="-122"/>
              </a:rPr>
              <a:t>Development Roadmap</a:t>
            </a:r>
            <a:endParaRPr kumimoji="0" lang="en-US" altLang="zh-CN" sz="2400" b="1" i="1" u="none" strike="noStrike" kern="1200" cap="none" spc="600" normalizeH="0" baseline="0" noProof="0" dirty="0">
              <a:ln>
                <a:noFill/>
              </a:ln>
              <a:gradFill flip="none" rotWithShape="1">
                <a:gsLst>
                  <a:gs pos="0">
                    <a:srgbClr val="3068B2"/>
                  </a:gs>
                  <a:gs pos="44000">
                    <a:srgbClr val="49A1FF"/>
                  </a:gs>
                  <a:gs pos="63000">
                    <a:srgbClr val="75DEFE"/>
                  </a:gs>
                  <a:gs pos="99000">
                    <a:srgbClr val="FF8EB2"/>
                  </a:gs>
                </a:gsLst>
                <a:lin ang="2700000" scaled="1"/>
                <a:tileRect/>
              </a:gradFill>
              <a:effectLst/>
              <a:uLnTx/>
              <a:uFillTx/>
              <a:latin typeface="思源黑体 Bold" panose="020B0800000000000000" pitchFamily="34" charset="-122"/>
              <a:ea typeface="思源黑体 Bold" panose="020B0800000000000000" pitchFamily="34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8511C74-9EBE-4062-ADE0-D0A4545631B2}"/>
              </a:ext>
            </a:extLst>
          </p:cNvPr>
          <p:cNvSpPr txBox="1"/>
          <p:nvPr/>
        </p:nvSpPr>
        <p:spPr>
          <a:xfrm>
            <a:off x="6505572" y="2636867"/>
            <a:ext cx="39532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 medical dataset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comparison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full web application (UI &amp; audio support)</a:t>
            </a:r>
          </a:p>
          <a:p>
            <a:pPr lvl="0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performance and user experience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859707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265</Words>
  <Application>Microsoft Office PowerPoint</Application>
  <PresentationFormat>宽屏</PresentationFormat>
  <Paragraphs>74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思源黑体 Bold</vt:lpstr>
      <vt:lpstr>思源黑体 CN Heavy</vt:lpstr>
      <vt:lpstr>思源黑体 CN Medium</vt:lpstr>
      <vt:lpstr>微软雅黑</vt:lpstr>
      <vt:lpstr>Arial</vt:lpstr>
      <vt:lpstr>Calibri</vt:lpstr>
      <vt:lpstr>Calibri Light</vt:lpstr>
      <vt:lpstr>Times New Roman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</dc:title>
  <dc:creator>第一PPT，www.1ppt.com</dc:creator>
  <cp:keywords>www.1ppt.com</cp:keywords>
  <dc:description>第一PPT</dc:description>
  <cp:lastModifiedBy>Zhuoran Zhang</cp:lastModifiedBy>
  <cp:revision>20</cp:revision>
  <dcterms:created xsi:type="dcterms:W3CDTF">2021-11-24T03:12:43Z</dcterms:created>
  <dcterms:modified xsi:type="dcterms:W3CDTF">2026-04-16T22:53:55Z</dcterms:modified>
</cp:coreProperties>
</file>